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</p:sldMasterIdLst>
  <p:notesMasterIdLst>
    <p:notesMasterId r:id="rId8"/>
  </p:notesMasterIdLst>
  <p:sldIdLst>
    <p:sldId id="256" r:id="rId6"/>
    <p:sldId id="314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7A0C10-4A62-01A4-06E0-FCBFB8A18D97}" name="Lívia Estéfani Cardoso" initials="LC" userId="S::CS399630@MinhaTI.com.br::5523a85b-150b-42ef-aece-3f4fe0d00180" providerId="AD"/>
  <p188:author id="{D27A8910-508F-711F-7506-4F95F79AFA74}" name="Luiz Gustavo Santos de Campos Momi" initials="" userId="S::CS293777@minhati.com.br::6f2637b6-30a1-4cda-bd5b-6822f0091914" providerId="AD"/>
  <p188:author id="{D6465130-3643-3FE7-DAEA-EA5A3F2DF6D6}" name="Lissa Andrea Victorio Inforcatti" initials="" userId="S::TR054391@MinhaTI.com.br::c35becd2-e380-463e-99fe-f3aa5808ebef" providerId="AD"/>
  <p188:author id="{FFBFD849-64C5-DA5A-B887-AD000D9CD65E}" name="Felipe Chalita Soares" initials="" userId="S::CS401646@MinhaTI.com.br::f9cb2cd7-3399-4729-ad5a-b9652bfec89c" providerId="AD"/>
  <p188:author id="{034F2B56-770F-5438-2228-358C4FF597A7}" name="Thaís Casadei Moraes" initials="TM" userId="S::cs340390@minhati.com.br::fb2b829d-7582-421a-aa7b-034d48f33687" providerId="AD"/>
  <p188:author id="{6859D580-B7DD-1312-87D5-8F31936C8B55}" name="Felipe Chalita Soares" initials="FS" userId="S::cs401646@minhati.com.br::f9cb2cd7-3399-4729-ad5a-b9652bfec89c" providerId="AD"/>
  <p188:author id="{6692D788-F181-87C8-0653-33FBF3679556}" name="Erasmo de Almeida Neto" initials="" userId="S::TR052178@MinhaTI.com.br::bc9061ab-d775-4cf5-847b-40d8cab30cc1" providerId="AD"/>
  <p188:author id="{3F91EF90-F097-09A2-96BB-3E995E3FA1D3}" name="Thaís Casadei Moraes" initials="" userId="S::CS340390@MinhaTI.com.br::fb2b829d-7582-421a-aa7b-034d48f33687" providerId="AD"/>
  <p188:author id="{59665397-642B-3541-9102-6E6AF04DD6E5}" name="Daniela Rubbi Cardoso de Mattos" initials="" userId="S::CS329219@MinhaTI.com.br::352d109f-a7ec-47e4-9abe-319ba57f8b99" providerId="AD"/>
  <p188:author id="{1D07949B-E718-C1CD-2EA3-0A12DA7E1D32}" name="Larissa Lazari Maia" initials="LM" userId="S::CS380870@MinhaTI.com.br::b08bf6dd-9800-44f6-a56f-bd54351fb4d4" providerId="AD"/>
  <p188:author id="{965B74AE-7377-6B4D-CBA0-94F1B617474A}" name="Joao Vitor Alcalde Tonin" initials="JT" userId="S::cs286182@minhati.com.br::b677b9bc-2c6f-4471-b533-c26dffa43d8d" providerId="AD"/>
  <p188:author id="{36EF92CF-1174-8A4C-1A94-34064A92C26F}" name="Bryan Stefan Galani Pernambuco" initials="BP" userId="S::cs340049@minhati.com.br::cdf9ab2e-a188-4c32-8c2e-a8cfb6b1e1b9" providerId="AD"/>
  <p188:author id="{09F783E4-9600-5C6F-6293-E9556DC04574}" name="Maycon de Souza Lima" initials="ML" userId="S::cs364972@minhati.com.br::b9de2b6c-cfc4-4b88-91d7-2449c5d5d380" providerId="AD"/>
  <p188:author id="{281CC1F0-474B-0F90-07A4-7388BC4B6EB3}" name="Joao Vitor Alcalde Tonin" initials="" userId="S::CS286182@minhati.com.br::b677b9bc-2c6f-4471-b533-c26dffa43d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BFC2"/>
    <a:srgbClr val="4D6D5D"/>
    <a:srgbClr val="618F3F"/>
    <a:srgbClr val="BEBFC1"/>
    <a:srgbClr val="ACD36C"/>
    <a:srgbClr val="000000"/>
    <a:srgbClr val="666666"/>
    <a:srgbClr val="771E7B"/>
    <a:srgbClr val="676767"/>
    <a:srgbClr val="000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21A86-6D71-4D39-BB23-E1CBF734E6F6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7484F-86ED-456B-920A-63D045A628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150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0CB4D-E748-4B1A-81AC-A6DE3047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286C0D-A119-B45F-6536-8DCCE8739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6FA7F4-45B8-16A8-CB57-E59AA9D7D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176FB9-6AD1-A078-5F35-AE93BEC35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0B01D3-7737-46DB-88A4-F1FF76EC74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91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03A0D-65D6-E941-60B6-BBA988CAB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4039CD-ABE6-6BBC-FCAB-DE34B4F41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54541-2DDB-2E1B-41D1-32E3ECD0C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D10F6B-E185-4486-C0FE-B499F961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7BDCE7-60BD-85FA-FC4F-8DE62228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16864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90385-3386-C57E-802F-7B4B1DC7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1D9A2-FD47-929A-85BF-80D9EAABF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F8EF10-AC04-39AD-FAD9-A9CE71B3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797E79-5D35-932B-4132-786AC60C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68536-2046-E982-6E4B-A6D73F9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71847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CDC01-3168-42AA-E7FC-3A0BAF2B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9FA0EF-2C8F-1EB8-282A-20F80368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895236-3D85-761C-1514-525625D7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8ED8CB-EC19-557E-4416-5BE1634A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DBCFE1-7D0E-B369-CD60-AAD60632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02783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7CCCE-2049-C515-781E-58AC62FF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509B4-BFD7-969B-2CF8-342935B06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A2EB47-B7F4-4E80-7000-B9850FB2D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A7F44-5EC5-6CDE-0D26-B143C180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12CBDC-EA44-87E0-B015-45D1C5A9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D572E-A925-FDB0-4DA2-763F18DF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72169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0D57D-4918-3ABC-92A8-090C642C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C773A5-9D2D-86CB-D690-02B8D660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4498DD-2D2F-ED19-5AE7-7D5B3DB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2B2381-E902-9976-B0CC-F313A59E5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076529-F43E-C89C-D01F-E0BD032C8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C99664-E1B3-D9C4-EA95-336F3D15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0F0523-D9F2-C582-9417-A3AB71B3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5314D5-B506-43CD-C48B-2431037D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02155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FA700-11AF-DD5C-7C4E-3E494037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F84776-CD0B-A2DD-2477-A589B8F0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E6CD7D-3BE3-944F-5963-C6C45684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E823BF-270D-134F-2ED9-FFEA1511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50511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F0D23E-50AC-5CCE-C4B5-BE4DBF0D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ADAC1F-0F44-AB3A-4578-930114C4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3C2C97-6652-7345-C57A-7E6BA659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05102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E5AAC-FFF2-4656-6D24-FF10B336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5122-DC57-E836-2112-49C0D9FFA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2B9638-FE78-6C71-8F9B-B3C5308F1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EE202A-5FA4-C050-8482-AA0B2375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0D4F0F-7F92-80BE-EA61-6B77E69A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314DFA-4D7F-9F1F-EA21-B9C8FDFB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77845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D6F1E-4D91-DDE9-6D04-05107A42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EE8941-86F1-FBEC-65BE-21EC7625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153A04-61E2-2175-CDFD-DB2FEB803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8923E4-12BE-B6C2-F466-091E18DA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927CFD-C431-BDA3-0113-D1DA2BD8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E87845-9555-9D08-BC3D-1D52B9FF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54257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602A7-DE00-3789-4F03-4E4CBAF5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A87B3E-403D-7674-58CC-B080D4595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28D041-9F9F-7710-A59B-F69A056C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5E5BF-ABE7-7292-615C-16F04160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8B293-A063-7FD0-749E-FEE438F3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14434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D316C1-9988-52C2-F173-E51EFEC7C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7BF662-4935-0930-EC59-D12B47E7C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10D1F-0E1C-A418-2D8C-10A5F5EB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DEAE93-28F7-7488-8555-901D61F8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E736A-C099-9566-4AC4-AEF48E25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6260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981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254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077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011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445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49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199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1560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783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872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91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21E90D7-4771-F832-C78F-5921F146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32DD13-F112-3306-6CBB-523BEAC1D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762884-DE96-1151-0199-439078C8E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47249-E6FC-452D-B215-3B904DECF39D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047FB-FF48-A09B-B5B4-435229619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07977B-CD81-A9D3-726E-1E67E351D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6DE8A-E004-4D8B-9552-61895B6B837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A73243-CDE9-A495-F387-6D706188FC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11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Interno</a:t>
            </a:r>
          </a:p>
        </p:txBody>
      </p:sp>
    </p:spTree>
    <p:extLst>
      <p:ext uri="{BB962C8B-B14F-4D97-AF65-F5344CB8AC3E}">
        <p14:creationId xmlns:p14="http://schemas.microsoft.com/office/powerpoint/2010/main" val="260827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Google Shape;9;p1" descr="{&quot;HashCode&quot;:392118825,&quot;Placement&quot;:&quot;Footer&quot;,&quot;Top&quot;:384.343,&quot;Left&quot;:0.0,&quot;SlideWidth&quot;:720,&quot;SlideHeight&quot;:405}"/>
          <p:cNvSpPr txBox="1"/>
          <p:nvPr/>
        </p:nvSpPr>
        <p:spPr>
          <a:xfrm>
            <a:off x="0" y="6580544"/>
            <a:ext cx="872813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3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Interno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022335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6D5D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-10"/>
          <a:stretch/>
        </p:blipFill>
        <p:spPr>
          <a:xfrm>
            <a:off x="5378334" y="3025334"/>
            <a:ext cx="6813669" cy="383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8889" y="5142381"/>
            <a:ext cx="3806168" cy="19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880ACE1-B9B1-7C9C-0618-5609EA6F9F35}"/>
              </a:ext>
            </a:extLst>
          </p:cNvPr>
          <p:cNvSpPr txBox="1"/>
          <p:nvPr/>
        </p:nvSpPr>
        <p:spPr>
          <a:xfrm>
            <a:off x="2271733" y="2320357"/>
            <a:ext cx="76485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Case Shell Box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srgbClr val="ACD36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Sorveteria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80D8F78-B6B6-CB11-DE59-B1F126025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" y="0"/>
            <a:ext cx="852395" cy="84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253B828-3BB4-C989-67B5-8E1729787A22}"/>
              </a:ext>
            </a:extLst>
          </p:cNvPr>
          <p:cNvSpPr txBox="1"/>
          <p:nvPr/>
        </p:nvSpPr>
        <p:spPr>
          <a:xfrm>
            <a:off x="0" y="6509769"/>
            <a:ext cx="6172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BEBFC2"/>
                </a:solidFill>
                <a:effectLst/>
                <a:highlight>
                  <a:srgbClr val="4D6D5D"/>
                </a:highlight>
                <a:uLnTx/>
                <a:uFillTx/>
                <a:latin typeface="Arial"/>
                <a:ea typeface="+mn-ea"/>
                <a:cs typeface="+mn-cs"/>
              </a:rPr>
              <a:t>*Dados fictícios para uso didático</a:t>
            </a:r>
            <a:endParaRPr lang="pt-BR" sz="1400" dirty="0">
              <a:solidFill>
                <a:srgbClr val="BEBFC2"/>
              </a:solidFill>
              <a:highlight>
                <a:srgbClr val="4D6D5D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E66E-B3C1-EF8C-9FDB-DD5B110B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74;p8">
            <a:extLst>
              <a:ext uri="{FF2B5EF4-FFF2-40B4-BE49-F238E27FC236}">
                <a16:creationId xmlns:a16="http://schemas.microsoft.com/office/drawing/2014/main" id="{EF004B50-F140-1C3E-7D1A-51B2F3048338}"/>
              </a:ext>
            </a:extLst>
          </p:cNvPr>
          <p:cNvSpPr/>
          <p:nvPr/>
        </p:nvSpPr>
        <p:spPr>
          <a:xfrm>
            <a:off x="592070" y="5929439"/>
            <a:ext cx="11286814" cy="666204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27000" sx="101000" sy="101000" algn="ctr" rotWithShape="0">
              <a:prstClr val="black">
                <a:alpha val="1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  <a:sym typeface="Open Sans"/>
            </a:endParaRP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D0BD6852-E5EF-31AA-AD3E-44D1458D859F}"/>
              </a:ext>
            </a:extLst>
          </p:cNvPr>
          <p:cNvGrpSpPr/>
          <p:nvPr/>
        </p:nvGrpSpPr>
        <p:grpSpPr>
          <a:xfrm>
            <a:off x="158092" y="2542134"/>
            <a:ext cx="6691887" cy="578145"/>
            <a:chOff x="63989" y="4468801"/>
            <a:chExt cx="6691887" cy="578145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70A7A91D-3D0C-7AC6-7AB7-6ECAE5AABB89}"/>
                </a:ext>
              </a:extLst>
            </p:cNvPr>
            <p:cNvGrpSpPr/>
            <p:nvPr/>
          </p:nvGrpSpPr>
          <p:grpSpPr>
            <a:xfrm>
              <a:off x="63989" y="4468801"/>
              <a:ext cx="6691887" cy="578145"/>
              <a:chOff x="217979" y="4824588"/>
              <a:chExt cx="6691887" cy="578145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52D6B709-0DF8-84E1-5FB1-3C62AF82A0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3077" y="4911326"/>
                <a:ext cx="6396789" cy="403711"/>
              </a:xfrm>
              <a:prstGeom prst="rect">
                <a:avLst/>
              </a:prstGeom>
              <a:gradFill>
                <a:gsLst>
                  <a:gs pos="0">
                    <a:srgbClr val="4D6D5D"/>
                  </a:gs>
                  <a:gs pos="73000">
                    <a:srgbClr val="547952"/>
                  </a:gs>
                  <a:gs pos="100000">
                    <a:srgbClr val="60903E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801"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9E8422D8-56D4-B9D8-64C4-3FB3F83EED94}"/>
                  </a:ext>
                </a:extLst>
              </p:cNvPr>
              <p:cNvSpPr/>
              <p:nvPr/>
            </p:nvSpPr>
            <p:spPr>
              <a:xfrm>
                <a:off x="217979" y="4824588"/>
                <a:ext cx="573265" cy="578145"/>
              </a:xfrm>
              <a:prstGeom prst="ellipse">
                <a:avLst/>
              </a:prstGeom>
              <a:solidFill>
                <a:srgbClr val="4D6D5D"/>
              </a:soli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801"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C5040C7-AD8E-16EA-2807-F1FC87DDA52F}"/>
                </a:ext>
              </a:extLst>
            </p:cNvPr>
            <p:cNvSpPr txBox="1"/>
            <p:nvPr/>
          </p:nvSpPr>
          <p:spPr>
            <a:xfrm>
              <a:off x="565386" y="4589918"/>
              <a:ext cx="3647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b="1" dirty="0">
                  <a:solidFill>
                    <a:schemeClr val="lt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  <a:sym typeface="Open Sans"/>
                </a:rPr>
                <a:t> Entregável</a:t>
              </a:r>
              <a:endPara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366A4899-B7B7-90A0-AEA7-E5365BAF2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330" y="4589918"/>
              <a:ext cx="341785" cy="341785"/>
            </a:xfrm>
            <a:prstGeom prst="rect">
              <a:avLst/>
            </a:prstGeom>
          </p:spPr>
        </p:pic>
      </p:grpSp>
      <p:sp>
        <p:nvSpPr>
          <p:cNvPr id="72" name="Retângulo 71">
            <a:extLst>
              <a:ext uri="{FF2B5EF4-FFF2-40B4-BE49-F238E27FC236}">
                <a16:creationId xmlns:a16="http://schemas.microsoft.com/office/drawing/2014/main" id="{069D76C1-8960-D688-8CE6-F5969F7A6677}"/>
              </a:ext>
            </a:extLst>
          </p:cNvPr>
          <p:cNvSpPr/>
          <p:nvPr/>
        </p:nvSpPr>
        <p:spPr>
          <a:xfrm>
            <a:off x="0" y="6595643"/>
            <a:ext cx="633734" cy="262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895A33-6E90-7BB3-1CFF-762A8715A532}"/>
              </a:ext>
            </a:extLst>
          </p:cNvPr>
          <p:cNvSpPr txBox="1"/>
          <p:nvPr/>
        </p:nvSpPr>
        <p:spPr>
          <a:xfrm>
            <a:off x="538385" y="792643"/>
            <a:ext cx="63115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Nosso time de </a:t>
            </a:r>
            <a:r>
              <a:rPr lang="pt-BR" i="1" dirty="0" err="1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analytics</a:t>
            </a: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foi acionado para auxiliar no direcionamento de um novo segmento de venda de sorvetes da companhia</a:t>
            </a:r>
          </a:p>
          <a:p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O nosso </a:t>
            </a:r>
            <a:r>
              <a:rPr lang="pt-BR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objetivo</a:t>
            </a: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é </a:t>
            </a:r>
            <a:r>
              <a:rPr lang="pt-BR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aumentar a receita </a:t>
            </a: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desse novo projeto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D7F843D-9479-A626-58CB-F31C09E1F15A}"/>
              </a:ext>
            </a:extLst>
          </p:cNvPr>
          <p:cNvSpPr txBox="1"/>
          <p:nvPr/>
        </p:nvSpPr>
        <p:spPr>
          <a:xfrm>
            <a:off x="592069" y="3103079"/>
            <a:ext cx="625791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Monte uma apresentação para um público executivo com até 10 slides respondendo, mas não se limitando, as seguintes perguntas:</a:t>
            </a:r>
            <a:b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Que insights os dados trazem sobre o novo segmento?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Qual é a sua recomendação de plano de ação e por que?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*Sinta-se a vontade para trazer outras informações que achar relevante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14716D0-358D-CF04-E631-09C0A426F924}"/>
              </a:ext>
            </a:extLst>
          </p:cNvPr>
          <p:cNvSpPr txBox="1"/>
          <p:nvPr/>
        </p:nvSpPr>
        <p:spPr>
          <a:xfrm>
            <a:off x="7906027" y="321072"/>
            <a:ext cx="4103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rgbClr val="4D6D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  <a:sym typeface="Open Sans"/>
              </a:rPr>
              <a:t>Informações Adicionais</a:t>
            </a:r>
            <a:endParaRPr lang="pt-BR" dirty="0">
              <a:solidFill>
                <a:srgbClr val="4D6D5D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0EA28A5-EDF5-0888-87D2-D29895C644F5}"/>
              </a:ext>
            </a:extLst>
          </p:cNvPr>
          <p:cNvSpPr txBox="1"/>
          <p:nvPr/>
        </p:nvSpPr>
        <p:spPr>
          <a:xfrm>
            <a:off x="7906028" y="742878"/>
            <a:ext cx="410392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Dados de 2025. Os dados não foram tradados pelo time de engenharia. Cada registro é uma venda. Dicionário:</a:t>
            </a:r>
            <a:b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ID_Transacao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PK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Data da venda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Hora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Hora da venda (GMT-3)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Tipo_Sorvete</a:t>
            </a: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Categoria da venda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Sabor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Sabor do item vendido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Quantidade</a:t>
            </a:r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Quantia vendida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Valor_Total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Valor recebido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Cidade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Cidade da venda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Estado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Estado da venda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Canal_Venda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Canal da venda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Promocao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Se houve promoção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pt-BR" sz="180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_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Cliente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: ID do cliente</a:t>
            </a:r>
            <a:endParaRPr lang="pt-BR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AC2080C-4506-E81C-F264-D0672CCBABDE}"/>
              </a:ext>
            </a:extLst>
          </p:cNvPr>
          <p:cNvSpPr txBox="1"/>
          <p:nvPr/>
        </p:nvSpPr>
        <p:spPr>
          <a:xfrm>
            <a:off x="753861" y="5939375"/>
            <a:ext cx="109632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Após a apresentação, esteja preparado(a) para demonstrar tecnicamente o que foi construído, bem como executar algumas queries / alterações em real-time conforme solicitado na reunião.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A8D07B0-DDDE-E72F-301C-FFE1CF75C985}"/>
              </a:ext>
            </a:extLst>
          </p:cNvPr>
          <p:cNvGrpSpPr/>
          <p:nvPr/>
        </p:nvGrpSpPr>
        <p:grpSpPr>
          <a:xfrm>
            <a:off x="158092" y="199955"/>
            <a:ext cx="6691887" cy="578145"/>
            <a:chOff x="158092" y="199955"/>
            <a:chExt cx="6691887" cy="578145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05460A05-20C4-A1DD-00DC-32442184FD90}"/>
                </a:ext>
              </a:extLst>
            </p:cNvPr>
            <p:cNvGrpSpPr/>
            <p:nvPr/>
          </p:nvGrpSpPr>
          <p:grpSpPr>
            <a:xfrm>
              <a:off x="158092" y="199955"/>
              <a:ext cx="6691887" cy="578145"/>
              <a:chOff x="63989" y="4468801"/>
              <a:chExt cx="6691887" cy="578145"/>
            </a:xfrm>
          </p:grpSpPr>
          <p:grpSp>
            <p:nvGrpSpPr>
              <p:cNvPr id="34" name="Agrupar 33">
                <a:extLst>
                  <a:ext uri="{FF2B5EF4-FFF2-40B4-BE49-F238E27FC236}">
                    <a16:creationId xmlns:a16="http://schemas.microsoft.com/office/drawing/2014/main" id="{ECB789E2-9CAA-D49A-75B0-A875A9E0A2DF}"/>
                  </a:ext>
                </a:extLst>
              </p:cNvPr>
              <p:cNvGrpSpPr/>
              <p:nvPr/>
            </p:nvGrpSpPr>
            <p:grpSpPr>
              <a:xfrm>
                <a:off x="63989" y="4468801"/>
                <a:ext cx="6691887" cy="578145"/>
                <a:chOff x="217979" y="4824588"/>
                <a:chExt cx="6691887" cy="578145"/>
              </a:xfrm>
            </p:grpSpPr>
            <p:sp>
              <p:nvSpPr>
                <p:cNvPr id="38" name="Retângulo 37">
                  <a:extLst>
                    <a:ext uri="{FF2B5EF4-FFF2-40B4-BE49-F238E27FC236}">
                      <a16:creationId xmlns:a16="http://schemas.microsoft.com/office/drawing/2014/main" id="{2F7E8C57-1703-D7FB-F934-CAA5C83FCE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3077" y="4911326"/>
                  <a:ext cx="6396789" cy="403711"/>
                </a:xfrm>
                <a:prstGeom prst="rect">
                  <a:avLst/>
                </a:prstGeom>
                <a:gradFill>
                  <a:gsLst>
                    <a:gs pos="0">
                      <a:srgbClr val="4D6D5D"/>
                    </a:gs>
                    <a:gs pos="73000">
                      <a:srgbClr val="547952"/>
                    </a:gs>
                    <a:gs pos="100000">
                      <a:srgbClr val="60903E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1"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DD896359-C908-7650-4FC2-05630DD6F500}"/>
                    </a:ext>
                  </a:extLst>
                </p:cNvPr>
                <p:cNvSpPr/>
                <p:nvPr/>
              </p:nvSpPr>
              <p:spPr>
                <a:xfrm>
                  <a:off x="217979" y="4824588"/>
                  <a:ext cx="573265" cy="578145"/>
                </a:xfrm>
                <a:prstGeom prst="ellipse">
                  <a:avLst/>
                </a:prstGeom>
                <a:solidFill>
                  <a:srgbClr val="4D6D5D"/>
                </a:solidFill>
                <a:ln>
                  <a:noFill/>
                </a:ln>
                <a:effectLst>
                  <a:outerShdw blurRad="63500" sx="101000" sy="101000" algn="ctr" rotWithShape="0">
                    <a:prstClr val="black">
                      <a:alpha val="51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1"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C7C5206B-8234-BB95-8663-C9003E62DE01}"/>
                  </a:ext>
                </a:extLst>
              </p:cNvPr>
              <p:cNvSpPr txBox="1"/>
              <p:nvPr/>
            </p:nvSpPr>
            <p:spPr>
              <a:xfrm>
                <a:off x="565386" y="4589918"/>
                <a:ext cx="3647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solidFill>
                      <a:schemeClr val="lt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  <a:sym typeface="Open Sans"/>
                  </a:rPr>
                  <a:t> Sobre o Case</a:t>
                </a:r>
                <a:endParaRPr lang="pt-BR" dirty="0"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pic>
          <p:nvPicPr>
            <p:cNvPr id="48" name="Imagem 47" descr="Ícone&#10;&#10;O conteúdo gerado por IA pode estar incorreto.">
              <a:extLst>
                <a:ext uri="{FF2B5EF4-FFF2-40B4-BE49-F238E27FC236}">
                  <a16:creationId xmlns:a16="http://schemas.microsoft.com/office/drawing/2014/main" id="{CD1F481D-9F9C-488E-5D1C-D08931E5D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35" y="303727"/>
              <a:ext cx="388006" cy="3820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350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4E6D5D"/>
      </a:dk1>
      <a:lt1>
        <a:srgbClr val="D3D8D5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53B5137141C043B0C37782E360006E" ma:contentTypeVersion="14" ma:contentTypeDescription="Crie um novo documento." ma:contentTypeScope="" ma:versionID="618a8b437f645af99d12fd4700b80175">
  <xsd:schema xmlns:xsd="http://www.w3.org/2001/XMLSchema" xmlns:xs="http://www.w3.org/2001/XMLSchema" xmlns:p="http://schemas.microsoft.com/office/2006/metadata/properties" xmlns:ns2="c7ac85a2-10df-4d95-93e2-0786b519cd9e" xmlns:ns3="f3eda98a-2df8-452f-89cb-f047fc1e6c46" targetNamespace="http://schemas.microsoft.com/office/2006/metadata/properties" ma:root="true" ma:fieldsID="18dfbb87f0bc44c630fecba61a37c554" ns2:_="" ns3:_="">
    <xsd:import namespace="c7ac85a2-10df-4d95-93e2-0786b519cd9e"/>
    <xsd:import namespace="f3eda98a-2df8-452f-89cb-f047fc1e6c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c85a2-10df-4d95-93e2-0786b519cd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2c0262b5-acc8-4d6b-bee4-f9b3bba4e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eda98a-2df8-452f-89cb-f047fc1e6c4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b4072ca-6e47-48c2-a29c-922224a7e0cb}" ma:internalName="TaxCatchAll" ma:showField="CatchAllData" ma:web="f3eda98a-2df8-452f-89cb-f047fc1e6c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3eda98a-2df8-452f-89cb-f047fc1e6c46">
      <UserInfo>
        <DisplayName>Maycon de Souza Lima</DisplayName>
        <AccountId>176</AccountId>
        <AccountType/>
      </UserInfo>
      <UserInfo>
        <DisplayName>Luiz Gustavo Santos de Campos Momi</DisplayName>
        <AccountId>180</AccountId>
        <AccountType/>
      </UserInfo>
      <UserInfo>
        <DisplayName>Felipe Penteado Santana</DisplayName>
        <AccountId>31</AccountId>
        <AccountType/>
      </UserInfo>
      <UserInfo>
        <DisplayName>Thaís Casadei Moraes</DisplayName>
        <AccountId>142</AccountId>
        <AccountType/>
      </UserInfo>
      <UserInfo>
        <DisplayName>Guilherme Gonçalves Cestari</DisplayName>
        <AccountId>141</AccountId>
        <AccountType/>
      </UserInfo>
      <UserInfo>
        <DisplayName>Bryan Stefan Galani Pernambuco</DisplayName>
        <AccountId>9</AccountId>
        <AccountType/>
      </UserInfo>
      <UserInfo>
        <DisplayName>Erasmo de Almeida Neto</DisplayName>
        <AccountId>153</AccountId>
        <AccountType/>
      </UserInfo>
      <UserInfo>
        <DisplayName>Brenno Martins Giaconi de Souza</DisplayName>
        <AccountId>186</AccountId>
        <AccountType/>
      </UserInfo>
    </SharedWithUsers>
    <lcf76f155ced4ddcb4097134ff3c332f xmlns="c7ac85a2-10df-4d95-93e2-0786b519cd9e">
      <Terms xmlns="http://schemas.microsoft.com/office/infopath/2007/PartnerControls"/>
    </lcf76f155ced4ddcb4097134ff3c332f>
    <TaxCatchAll xmlns="f3eda98a-2df8-452f-89cb-f047fc1e6c46" xsi:nil="true"/>
  </documentManagement>
</p:properties>
</file>

<file path=customXml/itemProps1.xml><?xml version="1.0" encoding="utf-8"?>
<ds:datastoreItem xmlns:ds="http://schemas.openxmlformats.org/officeDocument/2006/customXml" ds:itemID="{498ECCAC-F2E2-4E0F-A761-2D30114A2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65A5C9-35FE-432C-94C8-66BC8FA0ED52}">
  <ds:schemaRefs>
    <ds:schemaRef ds:uri="c7ac85a2-10df-4d95-93e2-0786b519cd9e"/>
    <ds:schemaRef ds:uri="f3eda98a-2df8-452f-89cb-f047fc1e6c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9AEFC7-AEE3-4E90-A0A4-1FD1C0EDB69A}">
  <ds:schemaRefs>
    <ds:schemaRef ds:uri="c7ac85a2-10df-4d95-93e2-0786b519cd9e"/>
    <ds:schemaRef ds:uri="f3eda98a-2df8-452f-89cb-f047fc1e6c4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c6b9222-ff7d-4c6e-80fc-d2dead453d3c}" enabled="1" method="Privileged" siteId="{e7c411a6-9013-4967-a5b1-3d08f9edc13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230</Words>
  <Application>Microsoft Office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Aptos Display</vt:lpstr>
      <vt:lpstr>Calibri</vt:lpstr>
      <vt:lpstr>Aptos</vt:lpstr>
      <vt:lpstr>Tema do Office</vt:lpstr>
      <vt:lpstr>Simple Light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Lívia Estéfani Cardoso</dc:creator>
  <cp:lastModifiedBy>Bryan Stefan Galani Pernambuco</cp:lastModifiedBy>
  <cp:revision>8</cp:revision>
  <dcterms:created xsi:type="dcterms:W3CDTF">2024-06-11T11:26:06Z</dcterms:created>
  <dcterms:modified xsi:type="dcterms:W3CDTF">2025-08-25T19:28:16Z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Interno</vt:lpwstr>
  </property>
  <property fmtid="{D5CDD505-2E9C-101B-9397-08002B2CF9AE}" pid="4" name="MediaServiceImageTags">
    <vt:lpwstr/>
  </property>
  <property fmtid="{D5CDD505-2E9C-101B-9397-08002B2CF9AE}" pid="5" name="ContentTypeId">
    <vt:lpwstr>0x010100FA53B5137141C043B0C37782E360006E</vt:lpwstr>
  </property>
</Properties>
</file>